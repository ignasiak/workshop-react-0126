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039815-C742-437C-9D61-5EF7CD4E789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C76355-4033-463B-9A68-0DA4B9DBB44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CF4C3-B12B-413E-8427-3032CBE47B7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9BEBCC1-0BA5-46EB-AF20-2675961AC4C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B13292-6C6B-4F81-9D8C-474895A4992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61926-ED6A-428F-A908-757BF2DBB52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382EBAD-9502-44EB-8910-E5BCA7B5D31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B6EC68B-6FE1-44B1-A689-F5F3A3B8A77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746C5F5-E17E-4116-9D72-A2D828253E0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46F8F8A-288D-4496-8485-2D3E79B05B5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A9FFBF-1A18-40D9-A021-B2BCFCE455B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374359-7779-4D97-988F-C05AF65E78F4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3BD7C6-5FD7-47C8-885D-E815905EC9BE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FA50CA-4C13-44BF-BDC6-C26E3AAF3438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032C79-F1A8-4573-869B-5D496A26447E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CE9180-722B-4E71-BCD9-137DD8FDCC8D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D4A4E-8828-4891-A406-2816501B3BC0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A56C0F-FFF1-4296-9D99-600281427BDD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7B197D-8092-4953-889C-8971BE279EC9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080458-282E-4223-9233-22544ECFC69B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0200" cy="5141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BCD9B6-F2C4-4B5A-8492-D3C1FF58D910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l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D429F8-1DDC-4DFE-A81A-C19C69E555C5}" type="slidenum">
              <a:rPr b="0" lang="pl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&lt;numer&gt;</a:t>
            </a:fld>
            <a:endParaRPr b="0" lang="pl-PL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Relationship Id="rId7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hyperlink" Target="http://www.mojastrona.pl/client/1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02400" y="1166760"/>
            <a:ext cx="5852880" cy="138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Warsztaty React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3002400" y="2548800"/>
            <a:ext cx="585288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" sz="2800" spc="-1" strike="noStrike">
                <a:solidFill>
                  <a:schemeClr val="dk2"/>
                </a:solidFill>
                <a:latin typeface="Montserrat Medium"/>
                <a:ea typeface="Montserrat Medium"/>
              </a:rPr>
              <a:t>Patryk Tokarz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Google Shape;56;p13" descr=""/>
          <p:cNvPicPr/>
          <p:nvPr/>
        </p:nvPicPr>
        <p:blipFill>
          <a:blip r:embed="rId1"/>
          <a:stretch/>
        </p:blipFill>
        <p:spPr>
          <a:xfrm>
            <a:off x="0" y="4451400"/>
            <a:ext cx="9142200" cy="690120"/>
          </a:xfrm>
          <a:prstGeom prst="rect">
            <a:avLst/>
          </a:prstGeom>
          <a:ln w="0">
            <a:noFill/>
          </a:ln>
        </p:spPr>
      </p:pic>
      <p:pic>
        <p:nvPicPr>
          <p:cNvPr id="31" name="Google Shape;57;p13" descr=""/>
          <p:cNvPicPr/>
          <p:nvPr/>
        </p:nvPicPr>
        <p:blipFill>
          <a:blip r:embed="rId2"/>
          <a:srcRect l="8218" t="17221" r="6138" b="11140"/>
          <a:stretch/>
        </p:blipFill>
        <p:spPr>
          <a:xfrm>
            <a:off x="0" y="0"/>
            <a:ext cx="4157280" cy="514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62;p1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33" name="Google Shape;63;p14"/>
          <p:cNvSpPr/>
          <p:nvPr/>
        </p:nvSpPr>
        <p:spPr>
          <a:xfrm>
            <a:off x="520560" y="177840"/>
            <a:ext cx="4329000" cy="76032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3500" spc="-1" strike="noStrike">
                <a:solidFill>
                  <a:srgbClr val="000000"/>
                </a:solidFill>
                <a:latin typeface="Montserrat"/>
                <a:ea typeface="Montserrat"/>
              </a:rPr>
              <a:t>Poznaj Stację IT</a:t>
            </a:r>
            <a:endParaRPr b="0" lang="pl-PL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Google Shape;64;p14" descr=""/>
          <p:cNvPicPr/>
          <p:nvPr/>
        </p:nvPicPr>
        <p:blipFill>
          <a:blip r:embed="rId2"/>
          <a:stretch/>
        </p:blipFill>
        <p:spPr>
          <a:xfrm>
            <a:off x="0" y="1101240"/>
            <a:ext cx="3509280" cy="3509280"/>
          </a:xfrm>
          <a:prstGeom prst="rect">
            <a:avLst/>
          </a:prstGeom>
          <a:ln w="0">
            <a:noFill/>
          </a:ln>
        </p:spPr>
      </p:pic>
      <p:pic>
        <p:nvPicPr>
          <p:cNvPr id="35" name="Google Shape;65;p14" descr=""/>
          <p:cNvPicPr/>
          <p:nvPr/>
        </p:nvPicPr>
        <p:blipFill>
          <a:blip r:embed="rId3"/>
          <a:stretch/>
        </p:blipFill>
        <p:spPr>
          <a:xfrm>
            <a:off x="2928600" y="1101240"/>
            <a:ext cx="3509280" cy="3509280"/>
          </a:xfrm>
          <a:prstGeom prst="rect">
            <a:avLst/>
          </a:prstGeom>
          <a:ln w="0">
            <a:noFill/>
          </a:ln>
        </p:spPr>
      </p:pic>
      <p:pic>
        <p:nvPicPr>
          <p:cNvPr id="36" name="Google Shape;66;p14" descr=""/>
          <p:cNvPicPr/>
          <p:nvPr/>
        </p:nvPicPr>
        <p:blipFill>
          <a:blip r:embed="rId4"/>
          <a:stretch/>
        </p:blipFill>
        <p:spPr>
          <a:xfrm>
            <a:off x="5898960" y="1101240"/>
            <a:ext cx="3509280" cy="3509280"/>
          </a:xfrm>
          <a:prstGeom prst="rect">
            <a:avLst/>
          </a:prstGeom>
          <a:ln w="0">
            <a:noFill/>
          </a:ln>
        </p:spPr>
      </p:pic>
      <p:pic>
        <p:nvPicPr>
          <p:cNvPr id="37" name="Google Shape;67;p14" descr=""/>
          <p:cNvPicPr/>
          <p:nvPr/>
        </p:nvPicPr>
        <p:blipFill>
          <a:blip r:embed="rId5"/>
          <a:stretch/>
        </p:blipFill>
        <p:spPr>
          <a:xfrm>
            <a:off x="0" y="4451400"/>
            <a:ext cx="9142200" cy="6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72;p1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3780000" y="1158120"/>
            <a:ext cx="5095800" cy="31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l" sz="1600" spc="-1" strike="noStrike">
                <a:solidFill>
                  <a:schemeClr val="dk1"/>
                </a:solidFill>
                <a:latin typeface="Montserrat"/>
                <a:ea typeface="Montserrat"/>
              </a:rPr>
              <a:t>Programowania uczę się od 16 roku życia, a pierwsze zlecenia robiłem jeszcze jako nastolatek. Ma 18 lat komercyjnego doświadczenia – od prostych stron dla firm, aż po zaawansowane aplikacje frontendowe i backendowe.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l" sz="1600" spc="-1" strike="noStrike">
                <a:solidFill>
                  <a:schemeClr val="dk1"/>
                </a:solidFill>
                <a:latin typeface="Montserrat"/>
                <a:ea typeface="Montserrat"/>
              </a:rPr>
              <a:t>Specjalizuje się w JavaScript, React i Node.js, pracując jako Software Engineer w dużej firmie IT.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74;p15"/>
          <p:cNvSpPr/>
          <p:nvPr/>
        </p:nvSpPr>
        <p:spPr>
          <a:xfrm>
            <a:off x="520560" y="177840"/>
            <a:ext cx="4659120" cy="76032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Kilka słów o mnie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oogle Shape;75;p15" descr=""/>
          <p:cNvPicPr/>
          <p:nvPr/>
        </p:nvPicPr>
        <p:blipFill>
          <a:blip r:embed="rId2"/>
          <a:stretch/>
        </p:blipFill>
        <p:spPr>
          <a:xfrm>
            <a:off x="0" y="4451400"/>
            <a:ext cx="9142200" cy="69012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3"/>
          <a:stretch/>
        </p:blipFill>
        <p:spPr>
          <a:xfrm>
            <a:off x="540000" y="1260000"/>
            <a:ext cx="2698560" cy="28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0;p1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8407800" cy="31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Wprowadzenie: czym jest React i po co się go używa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JSX, komponenty funkcyjne, propsy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State i podstawy hooków (useState, useEffect)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Zdarzenia, dynamiczne UI, listy i klucze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Routing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Tworzenie mini aplikacji krok po kroku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0" lang="pl-PL" sz="1600" spc="-1" strike="noStrike">
                <a:solidFill>
                  <a:srgbClr val="000000"/>
                </a:solidFill>
                <a:latin typeface="Montserrat"/>
              </a:rPr>
              <a:t>Dobre praktyki, co dalej po warsztacie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82;p16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Plan watrsztatu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Google Shape;83;p1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80;p 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4751280" cy="31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000" spc="-1" strike="noStrike">
                <a:solidFill>
                  <a:srgbClr val="000000"/>
                </a:solidFill>
                <a:latin typeface="Montserrat"/>
              </a:rPr>
              <a:t>React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 to biblioteka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</a:rPr>
              <a:t>JavaScript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 służąca do budowania nowoczesnych interfejsów użytkownika (UI):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Oparty na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</a:rPr>
              <a:t>komponentach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 (UI z małych, wielokrotnego użytku elementów)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Wykorzystuje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</a:rPr>
              <a:t>Virtual DOM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 dla wydajnych aktualizacji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umożliwia budowanie aplikacji typu </a:t>
            </a:r>
            <a:r>
              <a:rPr b="1" lang="pl-PL" sz="1000" spc="-1" strike="noStrike">
                <a:solidFill>
                  <a:srgbClr val="000000"/>
                </a:solidFill>
                <a:latin typeface="Montserrat"/>
              </a:rPr>
              <a:t>SPA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82;p 1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React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Google Shape;83;p 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3"/>
          <a:stretch/>
        </p:blipFill>
        <p:spPr>
          <a:xfrm>
            <a:off x="6120000" y="1800000"/>
            <a:ext cx="2016360" cy="203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0;p 2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pic>
        <p:nvPicPr>
          <p:cNvPr id="53" name="Google Shape;83;p 2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3"/>
          <a:stretch/>
        </p:blipFill>
        <p:spPr>
          <a:xfrm>
            <a:off x="428760" y="864000"/>
            <a:ext cx="8282520" cy="348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80;p 3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68000" y="1338120"/>
            <a:ext cx="7811280" cy="31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300" spc="-1" strike="noStrike">
                <a:solidFill>
                  <a:srgbClr val="333333"/>
                </a:solidFill>
                <a:latin typeface="Montserrat"/>
              </a:rPr>
              <a:t>Virtual DOM to lekka kopia prawdziwego DOM,</a:t>
            </a:r>
            <a:br>
              <a:rPr sz="1300"/>
            </a:br>
            <a:r>
              <a:rPr b="0" lang="pl-PL" sz="1300" spc="-1" strike="noStrike">
                <a:solidFill>
                  <a:srgbClr val="333333"/>
                </a:solidFill>
                <a:latin typeface="Montserrat"/>
              </a:rPr>
              <a:t>przechowywana w pamięci.</a:t>
            </a:r>
            <a:br>
              <a:rPr sz="1300"/>
            </a:br>
            <a:br>
              <a:rPr sz="1300"/>
            </a:br>
            <a:br>
              <a:rPr sz="1300"/>
            </a:br>
            <a:r>
              <a:rPr b="1" lang="pl-PL" sz="1300" spc="-1" strike="noStrike">
                <a:solidFill>
                  <a:srgbClr val="333333"/>
                </a:solidFill>
                <a:latin typeface="Montserrat"/>
              </a:rPr>
              <a:t>Co się dzieje przy zmianie stanu?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Zmieniamy state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React tworzy nową wersję Virtual DOM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Porównuje ją z poprzednią (diffing)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Wykrywa różnice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Aktualizuje tylko zmienione elementy w prawdziwym DOM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pl-PL" sz="1600" spc="-1" strike="noStrike">
                <a:solidFill>
                  <a:srgbClr val="ffb800"/>
                </a:solidFill>
                <a:latin typeface="Arial"/>
                <a:ea typeface="Microsoft YaHei"/>
              </a:rPr>
              <a:t>React robi próbę na brudno w pamięci, a potem poprawia tylko to, co trzeba.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82;p 2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Jak działa Virtual DOM?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oogle Shape;83;p 3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0;p 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68000" y="1194120"/>
            <a:ext cx="4571280" cy="34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JSX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</a:rPr>
              <a:t>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(JavaScript XML)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to składnia używana w React,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która pozwala pisać kod przypominający HTML bezpośrednio w JavaScript.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600" spc="-1" strike="noStrike">
                <a:solidFill>
                  <a:srgbClr val="3465a4"/>
                </a:solidFill>
                <a:latin typeface="Montserrat"/>
                <a:ea typeface="Microsoft YaHei"/>
              </a:rPr>
              <a:t>WAŻNE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  <a:ea typeface="Microsoft YaHei"/>
              </a:rPr>
              <a:t>JSX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nie jest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  <a:ea typeface="Microsoft YaHei"/>
              </a:rPr>
              <a:t>HTML-em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finalnie jest zamieniany na</a:t>
            </a:r>
            <a:r>
              <a:rPr b="1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  <a:ea typeface="Microsoft YaHei"/>
              </a:rPr>
              <a:t>React.createElement()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  <a:ea typeface="Microsoft YaHei"/>
              </a:rPr>
              <a:t>pozwala mieszać JS i widok w jednym miejscu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  <a:ea typeface="Microsoft YaHei"/>
              </a:rPr>
              <a:t>JSX to sposób opisywania widoku w React w formie podobnej do HTML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 4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JSX?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83;p 5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3"/>
          <a:stretch/>
        </p:blipFill>
        <p:spPr>
          <a:xfrm>
            <a:off x="5582520" y="1906560"/>
            <a:ext cx="3056760" cy="68472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4"/>
          <a:stretch/>
        </p:blipFill>
        <p:spPr>
          <a:xfrm>
            <a:off x="5580000" y="3355200"/>
            <a:ext cx="1494360" cy="53208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5603040" y="1440000"/>
            <a:ext cx="1118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800" spc="-1" strike="noStrike">
                <a:solidFill>
                  <a:srgbClr val="3465a4"/>
                </a:solidFill>
                <a:latin typeface="Arial"/>
              </a:rPr>
              <a:t>Zamiast: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580000" y="2880000"/>
            <a:ext cx="1170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800" spc="-1" strike="noStrike">
                <a:solidFill>
                  <a:srgbClr val="3465a4"/>
                </a:solidFill>
                <a:latin typeface="Arial"/>
              </a:rPr>
              <a:t>Piszemy: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0;p 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82;p 3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Różnice między JSX a HTML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83;p 4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5"/>
          <p:cNvSpPr/>
          <p:nvPr/>
        </p:nvSpPr>
        <p:spPr>
          <a:xfrm>
            <a:off x="720000" y="1734480"/>
            <a:ext cx="385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JSX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7"/>
          <p:cNvSpPr/>
          <p:nvPr/>
        </p:nvSpPr>
        <p:spPr>
          <a:xfrm>
            <a:off x="4608000" y="1734480"/>
            <a:ext cx="385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HTML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2" name=""/>
          <p:cNvGraphicFramePr/>
          <p:nvPr/>
        </p:nvGraphicFramePr>
        <p:xfrm>
          <a:off x="900000" y="2160000"/>
          <a:ext cx="7379640" cy="1702080"/>
        </p:xfrm>
        <a:graphic>
          <a:graphicData uri="http://schemas.openxmlformats.org/drawingml/2006/table">
            <a:tbl>
              <a:tblPr/>
              <a:tblGrid>
                <a:gridCol w="3689280"/>
                <a:gridCol w="3690720"/>
              </a:tblGrid>
              <a:tr h="56736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&lt;div 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  <a:ea typeface="Microsoft YaHei"/>
                        </a:rPr>
                        <a:t>className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="box"&gt;&lt;/div&gt;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&lt;div 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</a:rPr>
                        <a:t>class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="box"&gt;&lt;/div&gt;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736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&lt;label 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  <a:ea typeface="Microsoft YaHei"/>
                        </a:rPr>
                        <a:t>htmlFor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="email"&gt;Email&lt;/label&gt;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&lt;label 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</a:rPr>
                        <a:t>for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="email"&gt;Email&lt;/label&gt;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736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&lt;h1&gt;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</a:rPr>
                        <a:t>{user.name}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&lt;/h1&gt;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&lt;h1&gt;</a:t>
                      </a:r>
                      <a:r>
                        <a:rPr b="1" lang="pl-PL" sz="1300" spc="-1" strike="noStrike">
                          <a:solidFill>
                            <a:srgbClr val="a7074b"/>
                          </a:solidFill>
                          <a:latin typeface="Arial"/>
                        </a:rPr>
                        <a:t>Jan Kowalski</a:t>
                      </a:r>
                      <a:r>
                        <a:rPr b="0" lang="pl-PL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&lt;/h1&gt;</a:t>
                      </a:r>
                      <a:endParaRPr b="0" lang="pl-PL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4140000" y="2700000"/>
            <a:ext cx="3239280" cy="221364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0"/>
          <p:cNvSpPr/>
          <p:nvPr/>
        </p:nvSpPr>
        <p:spPr>
          <a:xfrm>
            <a:off x="4752000" y="3066480"/>
            <a:ext cx="215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Witaj!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Google Shape;80;p 6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82;p 5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React - komponent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83;p 6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4"/>
          <a:stretch/>
        </p:blipFill>
        <p:spPr>
          <a:xfrm>
            <a:off x="2034360" y="1362600"/>
            <a:ext cx="2284920" cy="108468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8"/>
          <p:cNvSpPr/>
          <p:nvPr/>
        </p:nvSpPr>
        <p:spPr>
          <a:xfrm>
            <a:off x="1980000" y="1014480"/>
            <a:ext cx="503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React komponent to po prostu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funkcja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, która zwraca JSX.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9"/>
          <p:cNvSpPr/>
          <p:nvPr/>
        </p:nvSpPr>
        <p:spPr>
          <a:xfrm>
            <a:off x="1980000" y="2814480"/>
            <a:ext cx="215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Aby użyć komponentu: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5"/>
          <a:stretch/>
        </p:blipFill>
        <p:spPr>
          <a:xfrm>
            <a:off x="2052000" y="3200760"/>
            <a:ext cx="2008800" cy="137052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6"/>
          <a:stretch/>
        </p:blipFill>
        <p:spPr>
          <a:xfrm>
            <a:off x="4410360" y="1368000"/>
            <a:ext cx="2608920" cy="10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104000" y="1562400"/>
            <a:ext cx="4139280" cy="282888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80;p 8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82;p 7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Props - przekazywane w tagu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83;p 8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5"/>
          <p:cNvSpPr/>
          <p:nvPr/>
        </p:nvSpPr>
        <p:spPr>
          <a:xfrm>
            <a:off x="540000" y="1014480"/>
            <a:ext cx="30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Propsy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to dane przekazywane do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komponentu jak atrybuty w HTML.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4"/>
          <a:stretch/>
        </p:blipFill>
        <p:spPr>
          <a:xfrm>
            <a:off x="572040" y="3509280"/>
            <a:ext cx="2667240" cy="86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6"/>
          <p:cNvSpPr/>
          <p:nvPr/>
        </p:nvSpPr>
        <p:spPr>
          <a:xfrm>
            <a:off x="540000" y="3155760"/>
            <a:ext cx="269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Oto nasz kod komponentu: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5"/>
          <a:stretch/>
        </p:blipFill>
        <p:spPr>
          <a:xfrm>
            <a:off x="601200" y="1677240"/>
            <a:ext cx="2278080" cy="1216440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1"/>
          <p:cNvSpPr/>
          <p:nvPr/>
        </p:nvSpPr>
        <p:spPr>
          <a:xfrm>
            <a:off x="5016240" y="208440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Adam!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Kasia!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Marek!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104000" y="1562400"/>
            <a:ext cx="4139280" cy="282888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7"/>
          <p:cNvSpPr/>
          <p:nvPr/>
        </p:nvSpPr>
        <p:spPr>
          <a:xfrm>
            <a:off x="5024160" y="209196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Adam!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Kasia!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Marek!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Google Shape;80;p 9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95" name="Google Shape;82;p 8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Props - przekazywane w tagu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83;p 9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97" name="PlaceHolder 18"/>
          <p:cNvSpPr/>
          <p:nvPr/>
        </p:nvSpPr>
        <p:spPr>
          <a:xfrm>
            <a:off x="540000" y="1014480"/>
            <a:ext cx="30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Propsy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to dane przekazywane do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komponentu również jako child.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9"/>
          <p:cNvSpPr/>
          <p:nvPr/>
        </p:nvSpPr>
        <p:spPr>
          <a:xfrm>
            <a:off x="540000" y="3155760"/>
            <a:ext cx="269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Oto nasz kod komponentu: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4"/>
          <a:stretch/>
        </p:blipFill>
        <p:spPr>
          <a:xfrm>
            <a:off x="577800" y="3579840"/>
            <a:ext cx="3085200" cy="91944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5"/>
          <a:stretch/>
        </p:blipFill>
        <p:spPr>
          <a:xfrm>
            <a:off x="574200" y="1656000"/>
            <a:ext cx="2175120" cy="12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4104000" y="1562400"/>
            <a:ext cx="4139280" cy="282888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2"/>
          <p:cNvSpPr/>
          <p:nvPr/>
        </p:nvSpPr>
        <p:spPr>
          <a:xfrm>
            <a:off x="5024160" y="209196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Adam!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Kasia!</a:t>
            </a:r>
            <a:br>
              <a:rPr sz="1300"/>
            </a:b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Witaj Marek!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Google Shape;80;p 7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04" name="Google Shape;82;p 6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Props - przekazywane w tagu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Google Shape;83;p 7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3"/>
          <p:cNvSpPr/>
          <p:nvPr/>
        </p:nvSpPr>
        <p:spPr>
          <a:xfrm>
            <a:off x="540000" y="1014480"/>
            <a:ext cx="30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Propsy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to dane przekazywane do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komponentu również jako child.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4"/>
          <p:cNvSpPr/>
          <p:nvPr/>
        </p:nvSpPr>
        <p:spPr>
          <a:xfrm>
            <a:off x="540000" y="3155760"/>
            <a:ext cx="269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Oto nasz kod komponentu: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4"/>
          <a:stretch/>
        </p:blipFill>
        <p:spPr>
          <a:xfrm>
            <a:off x="577800" y="3579840"/>
            <a:ext cx="3085200" cy="91944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5"/>
          <a:stretch/>
        </p:blipFill>
        <p:spPr>
          <a:xfrm>
            <a:off x="574200" y="1656000"/>
            <a:ext cx="2175120" cy="12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4824000" y="1562400"/>
            <a:ext cx="4139280" cy="282888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32"/>
          <p:cNvSpPr/>
          <p:nvPr/>
        </p:nvSpPr>
        <p:spPr>
          <a:xfrm>
            <a:off x="5744160" y="209196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3200" spc="-1" strike="noStrike">
                <a:solidFill>
                  <a:srgbClr val="3465a4"/>
                </a:solidFill>
                <a:latin typeface="Montserrat"/>
              </a:rPr>
              <a:t>0 -&gt; 1 -&gt; 2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Google Shape;80;p 15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82;p 14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State – zarządzanie stanem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83;p 15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34"/>
          <p:cNvSpPr/>
          <p:nvPr/>
        </p:nvSpPr>
        <p:spPr>
          <a:xfrm>
            <a:off x="540000" y="1014480"/>
            <a:ext cx="66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Stan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(state) to dane, które mogą się zmieniać w czasie działania aplikacji.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4"/>
          <a:stretch/>
        </p:blipFill>
        <p:spPr>
          <a:xfrm>
            <a:off x="540000" y="1460880"/>
            <a:ext cx="4139280" cy="280188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35"/>
          <p:cNvSpPr/>
          <p:nvPr/>
        </p:nvSpPr>
        <p:spPr>
          <a:xfrm>
            <a:off x="5760000" y="270000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3200" spc="-1" strike="noStrike">
                <a:solidFill>
                  <a:srgbClr val="3465a4"/>
                </a:solidFill>
                <a:latin typeface="Montserrat"/>
              </a:rPr>
              <a:t>       </a:t>
            </a:r>
            <a:r>
              <a:rPr b="1" lang="pl-PL" sz="3200" spc="-1" strike="noStrike">
                <a:solidFill>
                  <a:srgbClr val="3465a4"/>
                </a:solidFill>
                <a:highlight>
                  <a:srgbClr val="81d41a"/>
                </a:highlight>
                <a:latin typeface="Montserrat"/>
              </a:rPr>
              <a:t> </a:t>
            </a:r>
            <a:r>
              <a:rPr b="1" lang="pl-PL" sz="3200" spc="-1" strike="noStrike">
                <a:solidFill>
                  <a:srgbClr val="3465a4"/>
                </a:solidFill>
                <a:highlight>
                  <a:srgbClr val="81d41a"/>
                </a:highlight>
                <a:latin typeface="Montserrat"/>
              </a:rPr>
              <a:t>+ 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80;p 1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82;p 10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State + Props razem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Google Shape;83;p 1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24"/>
          <p:cNvSpPr/>
          <p:nvPr/>
        </p:nvSpPr>
        <p:spPr>
          <a:xfrm>
            <a:off x="540000" y="1014480"/>
            <a:ext cx="233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Komponent nadrzędny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221400" y="1440000"/>
            <a:ext cx="4056480" cy="251928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4"/>
          <a:stretch/>
        </p:blipFill>
        <p:spPr>
          <a:xfrm>
            <a:off x="4504680" y="1440000"/>
            <a:ext cx="4386600" cy="251928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23"/>
          <p:cNvSpPr/>
          <p:nvPr/>
        </p:nvSpPr>
        <p:spPr>
          <a:xfrm>
            <a:off x="4860000" y="1014480"/>
            <a:ext cx="233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Komponent dziecka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5"/>
          <p:cNvSpPr/>
          <p:nvPr/>
        </p:nvSpPr>
        <p:spPr>
          <a:xfrm>
            <a:off x="360000" y="4146480"/>
            <a:ext cx="773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600" spc="-1" strike="noStrike">
                <a:solidFill>
                  <a:srgbClr val="861141"/>
                </a:solidFill>
                <a:latin typeface="Montserrat"/>
              </a:rPr>
              <a:t>A co jeśli takich komponentów jest 10 poziomów?!…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6"/>
          <p:cNvSpPr/>
          <p:nvPr/>
        </p:nvSpPr>
        <p:spPr>
          <a:xfrm>
            <a:off x="540000" y="1014480"/>
            <a:ext cx="233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Komponent nadrzędny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80;p 12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82;p 11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Context Api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83;p 12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30" name="PlaceHolder 28"/>
          <p:cNvSpPr/>
          <p:nvPr/>
        </p:nvSpPr>
        <p:spPr>
          <a:xfrm>
            <a:off x="540000" y="1014480"/>
            <a:ext cx="66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Context API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pozwala współdzielić dane między wieloma komponentami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bez przekazywania ich przez propsy na każdym poziomie.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540000" y="1800000"/>
            <a:ext cx="2774880" cy="74232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540000" y="2700000"/>
            <a:ext cx="3535920" cy="211752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5"/>
          <a:stretch/>
        </p:blipFill>
        <p:spPr>
          <a:xfrm>
            <a:off x="5040000" y="1980000"/>
            <a:ext cx="3239280" cy="238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80;p 13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35" name="Google Shape;82;p 12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Context Api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Google Shape;83;p 13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27"/>
          <p:cNvSpPr/>
          <p:nvPr/>
        </p:nvSpPr>
        <p:spPr>
          <a:xfrm>
            <a:off x="540000" y="1014480"/>
            <a:ext cx="66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Context API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pozwala współdzielić dane między wieloma komponentami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bez przekazywania ich przez propsy na każdym poziomie.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3"/>
          <a:stretch/>
        </p:blipFill>
        <p:spPr>
          <a:xfrm>
            <a:off x="900000" y="2160000"/>
            <a:ext cx="2313000" cy="1928160"/>
          </a:xfrm>
          <a:prstGeom prst="rect">
            <a:avLst/>
          </a:prstGeom>
          <a:ln w="0">
            <a:noFill/>
          </a:ln>
        </p:spPr>
      </p:pic>
      <p:sp>
        <p:nvSpPr>
          <p:cNvPr id="139" name="PlaceHolder 29"/>
          <p:cNvSpPr/>
          <p:nvPr/>
        </p:nvSpPr>
        <p:spPr>
          <a:xfrm>
            <a:off x="3780000" y="2160000"/>
            <a:ext cx="503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Context omija pośredników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Komponent może pobrać dane bezpośrednio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Idealny do globalnych danych (user, język, dane CRM)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0"/>
          <p:cNvSpPr/>
          <p:nvPr/>
        </p:nvSpPr>
        <p:spPr>
          <a:xfrm>
            <a:off x="3780000" y="3420000"/>
            <a:ext cx="341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400" spc="-1" strike="noStrike">
                <a:solidFill>
                  <a:srgbClr val="8d281e"/>
                </a:solidFill>
                <a:latin typeface="Arial"/>
                <a:ea typeface="Microsoft YaHei"/>
              </a:rPr>
              <a:t>W naszym MiniCRM będziemy trzymać listę klientów w Context. 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4733280" y="1562400"/>
            <a:ext cx="4139280" cy="282888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22"/>
          <p:cNvSpPr/>
          <p:nvPr/>
        </p:nvSpPr>
        <p:spPr>
          <a:xfrm>
            <a:off x="5653440" y="2091960"/>
            <a:ext cx="27590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Alert: Kliknięto!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Google Shape;80;p 10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44" name="Google Shape;82;p 9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Event Handlers - Kliknięcie (onClick)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Google Shape;83;p 10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20"/>
          <p:cNvSpPr/>
          <p:nvPr/>
        </p:nvSpPr>
        <p:spPr>
          <a:xfrm>
            <a:off x="540000" y="1014480"/>
            <a:ext cx="66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Zdarzenia działają podobnie jak w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JS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, ale zapisujemy je w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JSX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1"/>
          <p:cNvSpPr/>
          <p:nvPr/>
        </p:nvSpPr>
        <p:spPr>
          <a:xfrm>
            <a:off x="540000" y="4025520"/>
            <a:ext cx="431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600" spc="-1" strike="noStrike">
                <a:solidFill>
                  <a:srgbClr val="8d281e"/>
                </a:solidFill>
                <a:latin typeface="Arial"/>
                <a:ea typeface="Microsoft YaHei"/>
              </a:rPr>
              <a:t>Przekazujemy funkcję (nie wywołanie!) 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4"/>
          <a:stretch/>
        </p:blipFill>
        <p:spPr>
          <a:xfrm>
            <a:off x="540000" y="1440000"/>
            <a:ext cx="4192560" cy="153864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5"/>
          <a:stretch/>
        </p:blipFill>
        <p:spPr>
          <a:xfrm>
            <a:off x="540000" y="3420000"/>
            <a:ext cx="3666600" cy="56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4733280" y="1562400"/>
            <a:ext cx="4139280" cy="282888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80;p 14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82;p 13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Obsługa formularza (onChange)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Google Shape;83;p 14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54" name="PlaceHolder 33"/>
          <p:cNvSpPr/>
          <p:nvPr/>
        </p:nvSpPr>
        <p:spPr>
          <a:xfrm>
            <a:off x="540000" y="1014480"/>
            <a:ext cx="66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Zdarzenia działają podobnie jak w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JS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, ale zapisujemy je w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JSX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.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4"/>
          <a:stretch/>
        </p:blipFill>
        <p:spPr>
          <a:xfrm>
            <a:off x="540000" y="1533600"/>
            <a:ext cx="3779280" cy="263232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5"/>
          <a:stretch/>
        </p:blipFill>
        <p:spPr>
          <a:xfrm>
            <a:off x="5580000" y="2062080"/>
            <a:ext cx="2079360" cy="81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80;p 1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58" name="Google Shape;82;p 15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Obsługa formularza (onChange)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Google Shape;83;p 1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60" name="PlaceHolder 31"/>
          <p:cNvSpPr/>
          <p:nvPr/>
        </p:nvSpPr>
        <p:spPr>
          <a:xfrm>
            <a:off x="540000" y="1014480"/>
            <a:ext cx="503928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Czym są </a:t>
            </a:r>
            <a:r>
              <a:rPr b="1" lang="pl-PL" sz="1600" spc="-1" strike="noStrike">
                <a:solidFill>
                  <a:srgbClr val="3465a4"/>
                </a:solidFill>
                <a:latin typeface="Arial"/>
                <a:ea typeface="Microsoft YaHei"/>
              </a:rPr>
              <a:t>Synthetic Events</a:t>
            </a:r>
            <a:r>
              <a:rPr b="0" lang="pl-PL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 w React?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Synthetic Event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to opakowanie na natywne zdarzenie przeglądarki.</a:t>
            </a:r>
            <a:br>
              <a:rPr sz="1100"/>
            </a:b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React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tworzy własny system zdarzeń, który działa tak samo we wszystkich przeglądarkach.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Dlaczego to robi?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Ujednolica zachowanie eventów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Poprawia kompatybilność między przeglądarkami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3"/>
          <a:stretch/>
        </p:blipFill>
        <p:spPr>
          <a:xfrm>
            <a:off x="4140000" y="3841920"/>
            <a:ext cx="2434680" cy="837360"/>
          </a:xfrm>
          <a:prstGeom prst="rect">
            <a:avLst/>
          </a:prstGeom>
          <a:ln w="0">
            <a:noFill/>
          </a:ln>
        </p:spPr>
      </p:pic>
      <p:sp>
        <p:nvSpPr>
          <p:cNvPr id="162" name=""/>
          <p:cNvSpPr/>
          <p:nvPr/>
        </p:nvSpPr>
        <p:spPr>
          <a:xfrm>
            <a:off x="4104000" y="4680000"/>
            <a:ext cx="503928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400" spc="-1" strike="noStrike">
                <a:solidFill>
                  <a:srgbClr val="355269"/>
                </a:solidFill>
                <a:latin typeface="Arial"/>
              </a:rPr>
              <a:t>e</a:t>
            </a: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pl-PL" sz="1200" spc="-1" strike="noStrike">
                <a:solidFill>
                  <a:srgbClr val="861141"/>
                </a:solidFill>
                <a:latin typeface="Arial"/>
              </a:rPr>
              <a:t>nie jest „czystym” eventem z DOM - to właśnie SyntheticEvent. 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4733280" y="2138400"/>
            <a:ext cx="4139280" cy="2828880"/>
          </a:xfrm>
          <a:prstGeom prst="rect">
            <a:avLst/>
          </a:prstGeom>
          <a:ln w="0">
            <a:noFill/>
          </a:ln>
        </p:spPr>
      </p:pic>
      <p:pic>
        <p:nvPicPr>
          <p:cNvPr id="164" name="Google Shape;80;p 17" descr=""/>
          <p:cNvPicPr/>
          <p:nvPr/>
        </p:nvPicPr>
        <p:blipFill>
          <a:blip r:embed="rId2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82;p 16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Wysyłanie formularza (onSubmit)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Google Shape;83;p 17" descr=""/>
          <p:cNvPicPr/>
          <p:nvPr/>
        </p:nvPicPr>
        <p:blipFill>
          <a:blip r:embed="rId3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pic>
        <p:nvPicPr>
          <p:cNvPr id="167" name="" descr=""/>
          <p:cNvPicPr/>
          <p:nvPr/>
        </p:nvPicPr>
        <p:blipFill>
          <a:blip r:embed="rId4"/>
          <a:stretch/>
        </p:blipFill>
        <p:spPr>
          <a:xfrm>
            <a:off x="5772960" y="2695680"/>
            <a:ext cx="1966320" cy="1119600"/>
          </a:xfrm>
          <a:prstGeom prst="rect">
            <a:avLst/>
          </a:prstGeom>
          <a:ln w="0">
            <a:noFill/>
          </a:ln>
        </p:spPr>
      </p:pic>
      <p:pic>
        <p:nvPicPr>
          <p:cNvPr id="168" name="" descr=""/>
          <p:cNvPicPr/>
          <p:nvPr/>
        </p:nvPicPr>
        <p:blipFill>
          <a:blip r:embed="rId5"/>
          <a:stretch/>
        </p:blipFill>
        <p:spPr>
          <a:xfrm>
            <a:off x="478080" y="1117440"/>
            <a:ext cx="3481200" cy="356184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36"/>
          <p:cNvSpPr/>
          <p:nvPr/>
        </p:nvSpPr>
        <p:spPr>
          <a:xfrm>
            <a:off x="4320000" y="1014480"/>
            <a:ext cx="4319280" cy="15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Dlaczego używamy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onSubmit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 zamiast </a:t>
            </a: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onClick</a:t>
            </a:r>
            <a:r>
              <a:rPr b="0" lang="pl-PL" sz="1300" spc="-1" strike="noStrike">
                <a:solidFill>
                  <a:srgbClr val="000000"/>
                </a:solidFill>
                <a:latin typeface="Montserrat"/>
              </a:rPr>
              <a:t>?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Obsługuje też naciśnięcie Enter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To poprawny semantycznie sposób pracy z formularzem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Działa zgodnie ze standardem HTML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80;p 23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71" name="Google Shape;82;p 22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Wysyłanie formularza (onSubmit)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Google Shape;83;p 23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73" name="PlaceHolder 3"/>
          <p:cNvSpPr/>
          <p:nvPr/>
        </p:nvSpPr>
        <p:spPr>
          <a:xfrm>
            <a:off x="720360" y="1260000"/>
            <a:ext cx="611928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onBlur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gdy element traci focus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onFocus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gdy dostaje focus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onKeyDown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wciśnięcie klawisza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onKeyUp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puszczenie klawisza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onMouseEnter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najechanie myszką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onMouseLeave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zjechanie myszką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50" spc="-1" strike="noStrike">
                <a:solidFill>
                  <a:srgbClr val="3465a4"/>
                </a:solidFill>
                <a:latin typeface="Montserrat"/>
              </a:rPr>
              <a:t>onDoubleClick</a:t>
            </a: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 – podwójne kliknięcie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1" lang="pl-PL" sz="1000" spc="-1" strike="noStrike">
                <a:solidFill>
                  <a:srgbClr val="3465a4"/>
                </a:solidFill>
                <a:latin typeface="Montserrat"/>
              </a:rPr>
              <a:t>onContextMenu</a:t>
            </a:r>
            <a:r>
              <a:rPr b="0" lang="pl-PL" sz="1000" spc="-1" strike="noStrike">
                <a:solidFill>
                  <a:srgbClr val="000000"/>
                </a:solidFill>
                <a:latin typeface="Montserrat"/>
              </a:rPr>
              <a:t> – kliknięcie prawym przyciskiem myszy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80;p 1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75" name="Google Shape;82;p 17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Cykl życia komponentów (Lifecycle)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Google Shape;83;p 18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37"/>
          <p:cNvSpPr/>
          <p:nvPr/>
        </p:nvSpPr>
        <p:spPr>
          <a:xfrm>
            <a:off x="540000" y="1080000"/>
            <a:ext cx="3599280" cy="15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1. Mounting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Komponent jest tworzony i renderowany pierwszy raz.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Pobieramy dane z API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Ustawiamy subskrypcje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Inicjalizujemy logikę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8"/>
          <p:cNvSpPr/>
          <p:nvPr/>
        </p:nvSpPr>
        <p:spPr>
          <a:xfrm>
            <a:off x="540000" y="2880000"/>
            <a:ext cx="3599280" cy="15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2. Updating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Komponent aktualizuje się, gdy: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zmieni się state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zmienią się props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900" spc="-1" strike="noStrike">
                <a:solidFill>
                  <a:srgbClr val="000000"/>
                </a:solidFill>
                <a:latin typeface="Montserrat"/>
              </a:rPr>
              <a:t>React robi re-render i porównuje Virtual DOM.</a:t>
            </a:r>
            <a:endParaRPr b="0" lang="pl-PL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9"/>
          <p:cNvSpPr/>
          <p:nvPr/>
        </p:nvSpPr>
        <p:spPr>
          <a:xfrm>
            <a:off x="4860000" y="2160000"/>
            <a:ext cx="3599280" cy="15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3. Unmounting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000" spc="-1" strike="noStrike">
                <a:solidFill>
                  <a:srgbClr val="333333"/>
                </a:solidFill>
                <a:latin typeface="Montserrat"/>
              </a:rPr>
              <a:t>Komponent jest usuwany z DOM.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czyścimy timery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usuwamy event listenery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050" spc="-1" strike="noStrike">
                <a:solidFill>
                  <a:srgbClr val="000000"/>
                </a:solidFill>
                <a:latin typeface="Montserrat"/>
              </a:rPr>
              <a:t>anulujemy subskrypcje</a:t>
            </a:r>
            <a:endParaRPr b="0" lang="pl-PL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80;p 20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81" name="Google Shape;82;p 19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Cykl życia komponentów (Lifecycle)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83;p 20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83" name="PlaceHolder 42"/>
          <p:cNvSpPr/>
          <p:nvPr/>
        </p:nvSpPr>
        <p:spPr>
          <a:xfrm>
            <a:off x="540000" y="1080000"/>
            <a:ext cx="359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1. Mounting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3"/>
          <p:cNvSpPr/>
          <p:nvPr/>
        </p:nvSpPr>
        <p:spPr>
          <a:xfrm>
            <a:off x="540000" y="2880000"/>
            <a:ext cx="359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2. Updating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4"/>
          <p:cNvSpPr/>
          <p:nvPr/>
        </p:nvSpPr>
        <p:spPr>
          <a:xfrm>
            <a:off x="4879800" y="1118520"/>
            <a:ext cx="359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pl-PL" sz="1300" spc="-1" strike="noStrike">
                <a:solidFill>
                  <a:srgbClr val="3465a4"/>
                </a:solidFill>
                <a:latin typeface="Montserrat"/>
              </a:rPr>
              <a:t>3. Unmounting</a:t>
            </a:r>
            <a:endParaRPr b="0" lang="pl-PL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3"/>
          <a:stretch/>
        </p:blipFill>
        <p:spPr>
          <a:xfrm>
            <a:off x="620280" y="1440000"/>
            <a:ext cx="2799000" cy="112212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4"/>
          <a:stretch/>
        </p:blipFill>
        <p:spPr>
          <a:xfrm>
            <a:off x="605160" y="3252960"/>
            <a:ext cx="2274120" cy="1066320"/>
          </a:xfrm>
          <a:prstGeom prst="rect">
            <a:avLst/>
          </a:prstGeom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5"/>
          <a:stretch/>
        </p:blipFill>
        <p:spPr>
          <a:xfrm>
            <a:off x="4899600" y="1478520"/>
            <a:ext cx="2659680" cy="213984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45"/>
          <p:cNvSpPr/>
          <p:nvPr/>
        </p:nvSpPr>
        <p:spPr>
          <a:xfrm>
            <a:off x="4860000" y="3960000"/>
            <a:ext cx="305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pl-PL" sz="1100" spc="-1" strike="noStrike">
                <a:solidFill>
                  <a:srgbClr val="611729"/>
                </a:solidFill>
                <a:latin typeface="Montserrat"/>
              </a:rPr>
              <a:t>Brak tablicy (drugi argument) powoduje wykonanie przy każdym renderze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80;p 1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191" name="Google Shape;82;p 18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Dynamiczne UI w React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Google Shape;83;p 19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40"/>
          <p:cNvSpPr/>
          <p:nvPr/>
        </p:nvSpPr>
        <p:spPr>
          <a:xfrm>
            <a:off x="540000" y="1014480"/>
            <a:ext cx="431928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Dynamiczne UI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oznacza, że interfejs zmienia się w zależności od danych i stanu aplikacji. React automatycznie aktualizuje widok,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gdy zmieni się state lub props.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1"/>
          <p:cNvSpPr/>
          <p:nvPr/>
        </p:nvSpPr>
        <p:spPr>
          <a:xfrm>
            <a:off x="540000" y="1914480"/>
            <a:ext cx="431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pl-PL" sz="1400" spc="-1" strike="noStrike">
                <a:solidFill>
                  <a:srgbClr val="3465a4"/>
                </a:solidFill>
                <a:latin typeface="Arial"/>
                <a:ea typeface="Microsoft YaHei"/>
              </a:rPr>
              <a:t>Warunkowe renderowanie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3"/>
          <a:stretch/>
        </p:blipFill>
        <p:spPr>
          <a:xfrm>
            <a:off x="612000" y="2288880"/>
            <a:ext cx="2764440" cy="482400"/>
          </a:xfrm>
          <a:prstGeom prst="rect">
            <a:avLst/>
          </a:prstGeom>
          <a:ln w="0">
            <a:noFill/>
          </a:ln>
        </p:spPr>
      </p:pic>
      <p:sp>
        <p:nvSpPr>
          <p:cNvPr id="196" name="PlaceHolder 51"/>
          <p:cNvSpPr/>
          <p:nvPr/>
        </p:nvSpPr>
        <p:spPr>
          <a:xfrm>
            <a:off x="540000" y="2742480"/>
            <a:ext cx="3599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Interfejs reaguje na stan użytkownik  Renderowanie list  a. Nie zmieniamy ręcznie DOM — React robi to za nas. UI zawsze odzwierciedla aktualne dane.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2"/>
          <p:cNvSpPr/>
          <p:nvPr/>
        </p:nvSpPr>
        <p:spPr>
          <a:xfrm>
            <a:off x="4680000" y="1624680"/>
            <a:ext cx="431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pl-PL" sz="1400" spc="-1" strike="noStrike">
                <a:solidFill>
                  <a:srgbClr val="3465a4"/>
                </a:solidFill>
                <a:latin typeface="Arial"/>
                <a:ea typeface="Microsoft YaHei"/>
              </a:rPr>
              <a:t>Renderowanie list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53"/>
          <p:cNvSpPr/>
          <p:nvPr/>
        </p:nvSpPr>
        <p:spPr>
          <a:xfrm>
            <a:off x="4680000" y="2848680"/>
            <a:ext cx="3599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UI generuje się dynamicznie na podstawie danych. Zmiana tablicy = automatyczna aktualizacja widoku. To podstawa aplikacji typu CRM.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" descr=""/>
          <p:cNvPicPr/>
          <p:nvPr/>
        </p:nvPicPr>
        <p:blipFill>
          <a:blip r:embed="rId4"/>
          <a:stretch/>
        </p:blipFill>
        <p:spPr>
          <a:xfrm>
            <a:off x="4784760" y="2052000"/>
            <a:ext cx="3026520" cy="809640"/>
          </a:xfrm>
          <a:prstGeom prst="rect">
            <a:avLst/>
          </a:prstGeom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5"/>
          <a:stretch/>
        </p:blipFill>
        <p:spPr>
          <a:xfrm>
            <a:off x="633240" y="4025520"/>
            <a:ext cx="3074040" cy="78660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54"/>
          <p:cNvSpPr/>
          <p:nvPr/>
        </p:nvSpPr>
        <p:spPr>
          <a:xfrm>
            <a:off x="540000" y="3672000"/>
            <a:ext cx="431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pl-PL" sz="1400" spc="-1" strike="noStrike">
                <a:solidFill>
                  <a:srgbClr val="3465a4"/>
                </a:solidFill>
                <a:latin typeface="Arial"/>
                <a:ea typeface="Microsoft YaHei"/>
              </a:rPr>
              <a:t>Dynamiczne klasy / styl</a:t>
            </a:r>
            <a:endParaRPr b="0" lang="pl-PL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6"/>
          <a:stretch/>
        </p:blipFill>
        <p:spPr>
          <a:xfrm>
            <a:off x="4785120" y="2052360"/>
            <a:ext cx="3026520" cy="809640"/>
          </a:xfrm>
          <a:prstGeom prst="rect">
            <a:avLst/>
          </a:prstGeom>
          <a:ln w="0">
            <a:noFill/>
          </a:ln>
        </p:spPr>
      </p:pic>
      <p:sp>
        <p:nvSpPr>
          <p:cNvPr id="203" name="PlaceHolder 55"/>
          <p:cNvSpPr/>
          <p:nvPr/>
        </p:nvSpPr>
        <p:spPr>
          <a:xfrm>
            <a:off x="3780000" y="4066200"/>
            <a:ext cx="3599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Wygląd komponentu zależy od stanu. Możemy dynamicznie sterować stylem, kolorem, widocznością. UI reaguje bez przeładowania strony.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80;p 22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82;p 21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Czym jest React Router?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Google Shape;83;p 22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07" name="PlaceHolder 49"/>
          <p:cNvSpPr/>
          <p:nvPr/>
        </p:nvSpPr>
        <p:spPr>
          <a:xfrm>
            <a:off x="540000" y="1374480"/>
            <a:ext cx="3239280" cy="11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React Router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pozwala tworzyć nawigację</a:t>
            </a:r>
            <a:br>
              <a:rPr sz="1100"/>
            </a:b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w aplikacji typu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SPA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Zmienia się URL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React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renderuje odpowiedni komponent</a:t>
            </a:r>
            <a:br>
              <a:rPr sz="1100"/>
            </a:b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bez przeładowywania strony.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" descr=""/>
          <p:cNvPicPr/>
          <p:nvPr/>
        </p:nvPicPr>
        <p:blipFill>
          <a:blip r:embed="rId3"/>
          <a:stretch/>
        </p:blipFill>
        <p:spPr>
          <a:xfrm>
            <a:off x="4500000" y="1152000"/>
            <a:ext cx="3959280" cy="2011680"/>
          </a:xfrm>
          <a:prstGeom prst="rect">
            <a:avLst/>
          </a:prstGeom>
          <a:ln w="0">
            <a:noFill/>
          </a:ln>
        </p:spPr>
      </p:pic>
      <p:sp>
        <p:nvSpPr>
          <p:cNvPr id="209" name="PlaceHolder 50"/>
          <p:cNvSpPr/>
          <p:nvPr/>
        </p:nvSpPr>
        <p:spPr>
          <a:xfrm>
            <a:off x="540000" y="3600000"/>
            <a:ext cx="3239280" cy="11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W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React Router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nie używamy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&lt;a&gt;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, ponieważ wykonuje pełny reload strony. W React używami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&lt;Link&gt;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4"/>
          <a:stretch/>
        </p:blipFill>
        <p:spPr>
          <a:xfrm>
            <a:off x="4506480" y="3600000"/>
            <a:ext cx="2512800" cy="73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80;p 21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12" name="Google Shape;82;p 20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Dynamiczne parametry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Google Shape;83;p 21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14" name="PlaceHolder 47"/>
          <p:cNvSpPr/>
          <p:nvPr/>
        </p:nvSpPr>
        <p:spPr>
          <a:xfrm>
            <a:off x="540000" y="1152000"/>
            <a:ext cx="32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Dzięki temu zapisowi wartość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:id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zostanie przekazana do komponentu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ClientDetails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.</a:t>
            </a:r>
            <a:br>
              <a:rPr sz="1100"/>
            </a:br>
            <a:br>
              <a:rPr sz="1100"/>
            </a:b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Przykład linku: </a:t>
            </a:r>
            <a:r>
              <a:rPr b="1" lang="pl-PL" sz="1100" spc="-1" strike="noStrike" u="sng">
                <a:solidFill>
                  <a:srgbClr val="0097a7"/>
                </a:solidFill>
                <a:uFillTx/>
                <a:latin typeface="Arial"/>
                <a:ea typeface="Microsoft YaHei"/>
                <a:hlinkClick r:id="rId3"/>
              </a:rPr>
              <a:t>www.mojastrona.pl/client/1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4"/>
          <a:stretch/>
        </p:blipFill>
        <p:spPr>
          <a:xfrm>
            <a:off x="4320000" y="1212120"/>
            <a:ext cx="4020840" cy="479160"/>
          </a:xfrm>
          <a:prstGeom prst="rect">
            <a:avLst/>
          </a:prstGeom>
          <a:ln w="0">
            <a:noFill/>
          </a:ln>
        </p:spPr>
      </p:pic>
      <p:pic>
        <p:nvPicPr>
          <p:cNvPr id="216" name="" descr=""/>
          <p:cNvPicPr/>
          <p:nvPr/>
        </p:nvPicPr>
        <p:blipFill>
          <a:blip r:embed="rId5"/>
          <a:stretch/>
        </p:blipFill>
        <p:spPr>
          <a:xfrm>
            <a:off x="4320000" y="2376000"/>
            <a:ext cx="2997720" cy="74412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46"/>
          <p:cNvSpPr/>
          <p:nvPr/>
        </p:nvSpPr>
        <p:spPr>
          <a:xfrm>
            <a:off x="540000" y="2304000"/>
            <a:ext cx="32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Wartość id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:id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możemy uzyskać za pomocą hooka useParams.</a:t>
            </a:r>
            <a:br>
              <a:rPr sz="1100"/>
            </a:br>
            <a:br>
              <a:rPr sz="1100"/>
            </a:b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Dla linku powyżej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id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zwróci wartość </a:t>
            </a: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1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6"/>
          <a:stretch/>
        </p:blipFill>
        <p:spPr>
          <a:xfrm>
            <a:off x="4320000" y="3747960"/>
            <a:ext cx="3239280" cy="967320"/>
          </a:xfrm>
          <a:prstGeom prst="rect">
            <a:avLst/>
          </a:prstGeom>
          <a:ln w="0">
            <a:noFill/>
          </a:ln>
        </p:spPr>
      </p:pic>
      <p:sp>
        <p:nvSpPr>
          <p:cNvPr id="219" name="PlaceHolder 48"/>
          <p:cNvSpPr/>
          <p:nvPr/>
        </p:nvSpPr>
        <p:spPr>
          <a:xfrm>
            <a:off x="540000" y="3780000"/>
            <a:ext cx="32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Navigate</a:t>
            </a:r>
            <a:r>
              <a:rPr b="0" lang="pl-PL" sz="1100" spc="-1" strike="noStrike">
                <a:solidFill>
                  <a:srgbClr val="000000"/>
                </a:solidFill>
                <a:latin typeface="Arial"/>
                <a:ea typeface="Microsoft YaHei"/>
              </a:rPr>
              <a:t> przeniesie użytkownika do wybranej podstrony.</a:t>
            </a:r>
            <a:endParaRPr b="0" lang="pl-PL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80;p 2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21" name="Google Shape;82;p 28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Dynamiczne parametry - query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Google Shape;83;p 29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56"/>
          <p:cNvSpPr/>
          <p:nvPr/>
        </p:nvSpPr>
        <p:spPr>
          <a:xfrm>
            <a:off x="972000" y="1620720"/>
            <a:ext cx="32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l-PL" sz="1100" spc="-1" strike="noStrike">
                <a:solidFill>
                  <a:srgbClr val="3465a4"/>
                </a:solidFill>
                <a:latin typeface="Arial"/>
                <a:ea typeface="Microsoft YaHei"/>
              </a:rPr>
              <a:t>UseSearchParams - </a:t>
            </a:r>
            <a:r>
              <a:rPr b="0" lang="pl-PL" sz="1100" spc="-1" strike="noStrike">
                <a:solidFill>
                  <a:srgbClr val="333333"/>
                </a:solidFill>
                <a:latin typeface="Arial"/>
                <a:ea typeface="Microsoft YaHei"/>
              </a:rPr>
              <a:t>to hook z React Router, który pozwala czytać i modyfikować parametry query w URL (czyli to, co jest po ?). Zwraca tablicę z aktualnymi parametrami (URLSearchParams) oraz funkcją do ich aktualizacji, co automatycznie zmienia adres w przeglądarce bez przeładowania strony. </a:t>
            </a:r>
            <a:endParaRPr b="0" lang="pl-PL" sz="1100" spc="-1" strike="noStrike">
              <a:solidFill>
                <a:srgbClr val="3465a4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3"/>
          <a:stretch/>
        </p:blipFill>
        <p:spPr>
          <a:xfrm>
            <a:off x="5054400" y="1620000"/>
            <a:ext cx="2937600" cy="145332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4"/>
          <a:stretch/>
        </p:blipFill>
        <p:spPr>
          <a:xfrm>
            <a:off x="5076000" y="3240000"/>
            <a:ext cx="1620000" cy="28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80;p 24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82;p 23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Pokodujmy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Google Shape;83;p 24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29" name=""/>
          <p:cNvSpPr/>
          <p:nvPr/>
        </p:nvSpPr>
        <p:spPr>
          <a:xfrm>
            <a:off x="739080" y="1427400"/>
            <a:ext cx="3400560" cy="19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Przygotowanie struktury aplikacji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Utworzenie projektu (np. React + Vite)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Podział na widoki / podstrony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Konfiguracja routingu (Panel, Klienci, Dodaj, Szczegóły)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5464800" y="1440000"/>
            <a:ext cx="2994840" cy="126504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4"/>
          <a:stretch/>
        </p:blipFill>
        <p:spPr>
          <a:xfrm>
            <a:off x="4775760" y="2430000"/>
            <a:ext cx="3143880" cy="134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80;p 25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33" name="Google Shape;82;p 24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Pokodujmy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Google Shape;83;p 25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737280" y="1440000"/>
            <a:ext cx="3222360" cy="21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Przygotowanie layoutu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Navbar (MiniCRM + nawigacja)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Kontener główny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Spójny styl komponentów (buttony, formularze, tabela)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694400" y="1440720"/>
            <a:ext cx="2757600" cy="24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Widok Panelu (Dashboard)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Komponent statystyk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Licznik klientów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Ostatnio dodany klient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Podpięcie danych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80;p 27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38" name="Google Shape;82;p 26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Pokodujmy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Google Shape;83;p 27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40" name=""/>
          <p:cNvSpPr/>
          <p:nvPr/>
        </p:nvSpPr>
        <p:spPr>
          <a:xfrm>
            <a:off x="737280" y="1440000"/>
            <a:ext cx="3222360" cy="19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Widok listy klientów 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Tabela z danymi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Renderowanie listy z API / state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Przyciski: Szczegóły / Usuń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4694400" y="1440720"/>
            <a:ext cx="2757600" cy="26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Formularz dodawania klienta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Kontrolowane inputy (useState)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Obsługa onChange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Obsługa onSubmit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Przekierowanie po dodaniu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80;p 28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43" name="Google Shape;82;p 27"/>
          <p:cNvSpPr/>
          <p:nvPr/>
        </p:nvSpPr>
        <p:spPr>
          <a:xfrm>
            <a:off x="520560" y="27612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Pokodujmy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Google Shape;83;p 28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737280" y="1440000"/>
            <a:ext cx="3222360" cy="19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l-PL" sz="1600" spc="-1" strike="noStrike">
                <a:solidFill>
                  <a:srgbClr val="000000"/>
                </a:solidFill>
                <a:latin typeface="Arial"/>
              </a:rPr>
              <a:t>Widok szczegółów klienta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Pobranie klienta po ID z route params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Wyświetlenie danych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pl-PL" sz="1000" spc="-1" strike="noStrike">
                <a:solidFill>
                  <a:srgbClr val="000000"/>
                </a:solidFill>
                <a:latin typeface="Arial"/>
              </a:rPr>
              <a:t>Przycisk Edytuj</a:t>
            </a: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l-PL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80;p 26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47" name="Google Shape;82;p 25"/>
          <p:cNvSpPr/>
          <p:nvPr/>
        </p:nvSpPr>
        <p:spPr>
          <a:xfrm>
            <a:off x="1440000" y="2469600"/>
            <a:ext cx="5778720" cy="59004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pl" sz="2600" spc="-1" strike="noStrike">
                <a:solidFill>
                  <a:srgbClr val="000000"/>
                </a:solidFill>
                <a:latin typeface="Montserrat"/>
                <a:ea typeface="Montserrat"/>
              </a:rPr>
              <a:t>Pytania?</a:t>
            </a:r>
            <a:endParaRPr b="0" lang="pl-PL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Google Shape;83;p 26" descr=""/>
          <p:cNvPicPr/>
          <p:nvPr/>
        </p:nvPicPr>
        <p:blipFill>
          <a:blip r:embed="rId2"/>
          <a:stretch/>
        </p:blipFill>
        <p:spPr>
          <a:xfrm>
            <a:off x="8123040" y="436320"/>
            <a:ext cx="752400" cy="24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720" y="3240"/>
            <a:ext cx="913572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105;p19" descr=""/>
          <p:cNvPicPr/>
          <p:nvPr/>
        </p:nvPicPr>
        <p:blipFill>
          <a:blip r:embed="rId1"/>
          <a:stretch/>
        </p:blipFill>
        <p:spPr>
          <a:xfrm>
            <a:off x="0" y="350640"/>
            <a:ext cx="9142200" cy="414360"/>
          </a:xfrm>
          <a:prstGeom prst="rect">
            <a:avLst/>
          </a:prstGeom>
          <a:ln w="0">
            <a:noFill/>
          </a:ln>
        </p:spPr>
      </p:pic>
      <p:sp>
        <p:nvSpPr>
          <p:cNvPr id="251" name="Google Shape;106;p19"/>
          <p:cNvSpPr/>
          <p:nvPr/>
        </p:nvSpPr>
        <p:spPr>
          <a:xfrm>
            <a:off x="520560" y="177840"/>
            <a:ext cx="4722480" cy="760320"/>
          </a:xfrm>
          <a:prstGeom prst="roundRect">
            <a:avLst>
              <a:gd name="adj" fmla="val 16667"/>
            </a:avLst>
          </a:prstGeom>
          <a:solidFill>
            <a:srgbClr val="ffcf0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l" sz="3300" spc="-1" strike="noStrike">
                <a:solidFill>
                  <a:srgbClr val="000000"/>
                </a:solidFill>
                <a:latin typeface="Montserrat"/>
                <a:ea typeface="Montserrat"/>
              </a:rPr>
              <a:t>Dowiedz się więcej</a:t>
            </a:r>
            <a:endParaRPr b="0" lang="pl-PL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Google Shape;107;p19" descr=""/>
          <p:cNvPicPr/>
          <p:nvPr/>
        </p:nvPicPr>
        <p:blipFill>
          <a:blip r:embed="rId2"/>
          <a:stretch/>
        </p:blipFill>
        <p:spPr>
          <a:xfrm>
            <a:off x="571680" y="1608840"/>
            <a:ext cx="1679040" cy="2232360"/>
          </a:xfrm>
          <a:prstGeom prst="rect">
            <a:avLst/>
          </a:prstGeom>
          <a:ln w="0">
            <a:noFill/>
          </a:ln>
        </p:spPr>
      </p:pic>
      <p:pic>
        <p:nvPicPr>
          <p:cNvPr id="253" name="Google Shape;108;p19" descr=""/>
          <p:cNvPicPr/>
          <p:nvPr/>
        </p:nvPicPr>
        <p:blipFill>
          <a:blip r:embed="rId3"/>
          <a:stretch/>
        </p:blipFill>
        <p:spPr>
          <a:xfrm>
            <a:off x="2702880" y="1608840"/>
            <a:ext cx="1679040" cy="2232360"/>
          </a:xfrm>
          <a:prstGeom prst="rect">
            <a:avLst/>
          </a:prstGeom>
          <a:ln w="0">
            <a:noFill/>
          </a:ln>
        </p:spPr>
      </p:pic>
      <p:pic>
        <p:nvPicPr>
          <p:cNvPr id="254" name="Google Shape;109;p19" descr=""/>
          <p:cNvPicPr/>
          <p:nvPr/>
        </p:nvPicPr>
        <p:blipFill>
          <a:blip r:embed="rId4"/>
          <a:stretch/>
        </p:blipFill>
        <p:spPr>
          <a:xfrm>
            <a:off x="4834080" y="1608840"/>
            <a:ext cx="1679040" cy="2232360"/>
          </a:xfrm>
          <a:prstGeom prst="rect">
            <a:avLst/>
          </a:prstGeom>
          <a:ln w="0">
            <a:noFill/>
          </a:ln>
        </p:spPr>
      </p:pic>
      <p:pic>
        <p:nvPicPr>
          <p:cNvPr id="255" name="Google Shape;110;p19" descr=""/>
          <p:cNvPicPr/>
          <p:nvPr/>
        </p:nvPicPr>
        <p:blipFill>
          <a:blip r:embed="rId5"/>
          <a:stretch/>
        </p:blipFill>
        <p:spPr>
          <a:xfrm>
            <a:off x="6955200" y="1608840"/>
            <a:ext cx="1648080" cy="2232360"/>
          </a:xfrm>
          <a:prstGeom prst="rect">
            <a:avLst/>
          </a:prstGeom>
          <a:ln w="0">
            <a:noFill/>
          </a:ln>
        </p:spPr>
      </p:pic>
      <p:pic>
        <p:nvPicPr>
          <p:cNvPr id="256" name="Google Shape;111;p19" descr=""/>
          <p:cNvPicPr/>
          <p:nvPr/>
        </p:nvPicPr>
        <p:blipFill>
          <a:blip r:embed="rId6"/>
          <a:stretch/>
        </p:blipFill>
        <p:spPr>
          <a:xfrm>
            <a:off x="0" y="4451400"/>
            <a:ext cx="9142200" cy="6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116;p20" descr=""/>
          <p:cNvPicPr/>
          <p:nvPr/>
        </p:nvPicPr>
        <p:blipFill>
          <a:blip r:embed="rId1"/>
          <a:stretch/>
        </p:blipFill>
        <p:spPr>
          <a:xfrm>
            <a:off x="0" y="4451400"/>
            <a:ext cx="9142200" cy="690120"/>
          </a:xfrm>
          <a:prstGeom prst="rect">
            <a:avLst/>
          </a:prstGeom>
          <a:ln w="0">
            <a:noFill/>
          </a:ln>
        </p:spPr>
      </p:pic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014640" y="1347480"/>
            <a:ext cx="5852880" cy="138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120" spc="-1" strike="noStrike">
                <a:solidFill>
                  <a:schemeClr val="dk1"/>
                </a:solidFill>
                <a:latin typeface="Montserrat"/>
                <a:ea typeface="Montserrat"/>
              </a:rPr>
              <a:t>Dziękuję za uwagę!</a:t>
            </a:r>
            <a:endParaRPr b="0" lang="pl-PL" sz="312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" sz="3120" spc="-1" strike="noStrike">
                <a:solidFill>
                  <a:schemeClr val="dk1"/>
                </a:solidFill>
                <a:latin typeface="Montserrat"/>
                <a:ea typeface="Montserrat"/>
              </a:rPr>
              <a:t>Do zobaczenia na kolejnych warsztatach!</a:t>
            </a:r>
            <a:endParaRPr b="0" lang="pl-PL" sz="31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Google Shape;118;p20" descr=""/>
          <p:cNvPicPr/>
          <p:nvPr/>
        </p:nvPicPr>
        <p:blipFill>
          <a:blip r:embed="rId2"/>
          <a:srcRect l="8218" t="17221" r="6138" b="11140"/>
          <a:stretch/>
        </p:blipFill>
        <p:spPr>
          <a:xfrm>
            <a:off x="0" y="0"/>
            <a:ext cx="4157280" cy="5141880"/>
          </a:xfrm>
          <a:prstGeom prst="rect">
            <a:avLst/>
          </a:prstGeom>
          <a:ln w="0">
            <a:noFill/>
          </a:ln>
        </p:spPr>
      </p:pic>
      <p:pic>
        <p:nvPicPr>
          <p:cNvPr id="260" name="Google Shape;119;p20" descr=""/>
          <p:cNvPicPr/>
          <p:nvPr/>
        </p:nvPicPr>
        <p:blipFill>
          <a:blip r:embed="rId3"/>
          <a:stretch/>
        </p:blipFill>
        <p:spPr>
          <a:xfrm>
            <a:off x="8334720" y="2925720"/>
            <a:ext cx="616680" cy="997560"/>
          </a:xfrm>
          <a:prstGeom prst="rect">
            <a:avLst/>
          </a:prstGeom>
          <a:ln w="0">
            <a:noFill/>
          </a:ln>
        </p:spPr>
      </p:pic>
      <p:sp>
        <p:nvSpPr>
          <p:cNvPr id="261" name="Google Shape;120;p20"/>
          <p:cNvSpPr/>
          <p:nvPr/>
        </p:nvSpPr>
        <p:spPr>
          <a:xfrm>
            <a:off x="6051240" y="3106080"/>
            <a:ext cx="283536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l" sz="1500" spc="-1" strike="noStrike">
                <a:solidFill>
                  <a:srgbClr val="116b9d"/>
                </a:solidFill>
                <a:latin typeface="Montserrat"/>
                <a:ea typeface="Montserrat"/>
              </a:rPr>
              <a:t>facebook.com/StacjaIT</a:t>
            </a:r>
            <a:endParaRPr b="0" lang="pl-PL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1;p20"/>
          <p:cNvSpPr/>
          <p:nvPr/>
        </p:nvSpPr>
        <p:spPr>
          <a:xfrm>
            <a:off x="5044680" y="3472560"/>
            <a:ext cx="3904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l" sz="1500" spc="-1" strike="noStrike">
                <a:solidFill>
                  <a:srgbClr val="116b9d"/>
                </a:solidFill>
                <a:latin typeface="Montserrat"/>
                <a:ea typeface="Montserrat"/>
              </a:rPr>
              <a:t>linkedin.com/showcase/stacja-it</a:t>
            </a:r>
            <a:endParaRPr b="0" lang="pl-PL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/>
  <dcterms:modified xsi:type="dcterms:W3CDTF">2026-03-02T21:08:24Z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